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4" r:id="rId4"/>
    <p:sldId id="265" r:id="rId5"/>
    <p:sldId id="266" r:id="rId6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38D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C5282DA-6695-4B6C-84CD-88D3906D6678}" v="5" dt="2026-04-11T15:20:29.3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009" autoAdjust="0"/>
    <p:restoredTop sz="94660"/>
  </p:normalViewPr>
  <p:slideViewPr>
    <p:cSldViewPr snapToGrid="0">
      <p:cViewPr varScale="1">
        <p:scale>
          <a:sx n="55" d="100"/>
          <a:sy n="55" d="100"/>
        </p:scale>
        <p:origin x="94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bel Vicencio" userId="45df5259ba3d81bd" providerId="LiveId" clId="{4EA767F8-A001-4D45-8B6D-690C8390DCD5}"/>
    <pc:docChg chg="delSld modSld">
      <pc:chgData name="Abel Vicencio" userId="45df5259ba3d81bd" providerId="LiveId" clId="{4EA767F8-A001-4D45-8B6D-690C8390DCD5}" dt="2026-04-11T15:23:48.223" v="24" actId="47"/>
      <pc:docMkLst>
        <pc:docMk/>
      </pc:docMkLst>
      <pc:sldChg chg="modSp mod">
        <pc:chgData name="Abel Vicencio" userId="45df5259ba3d81bd" providerId="LiveId" clId="{4EA767F8-A001-4D45-8B6D-690C8390DCD5}" dt="2026-04-11T15:17:13.742" v="11" actId="20577"/>
        <pc:sldMkLst>
          <pc:docMk/>
          <pc:sldMk cId="2040768073" sldId="256"/>
        </pc:sldMkLst>
        <pc:spChg chg="mod">
          <ac:chgData name="Abel Vicencio" userId="45df5259ba3d81bd" providerId="LiveId" clId="{4EA767F8-A001-4D45-8B6D-690C8390DCD5}" dt="2026-04-11T15:17:13.742" v="11" actId="20577"/>
          <ac:spMkLst>
            <pc:docMk/>
            <pc:sldMk cId="2040768073" sldId="256"/>
            <ac:spMk id="3" creationId="{00000000-0000-0000-0000-000000000000}"/>
          </ac:spMkLst>
        </pc:spChg>
      </pc:sldChg>
      <pc:sldChg chg="del">
        <pc:chgData name="Abel Vicencio" userId="45df5259ba3d81bd" providerId="LiveId" clId="{4EA767F8-A001-4D45-8B6D-690C8390DCD5}" dt="2026-04-11T15:20:34.935" v="19" actId="47"/>
        <pc:sldMkLst>
          <pc:docMk/>
          <pc:sldMk cId="1677073673" sldId="258"/>
        </pc:sldMkLst>
      </pc:sldChg>
      <pc:sldChg chg="del">
        <pc:chgData name="Abel Vicencio" userId="45df5259ba3d81bd" providerId="LiveId" clId="{4EA767F8-A001-4D45-8B6D-690C8390DCD5}" dt="2026-04-11T15:20:22.906" v="12" actId="47"/>
        <pc:sldMkLst>
          <pc:docMk/>
          <pc:sldMk cId="1837039480" sldId="259"/>
        </pc:sldMkLst>
      </pc:sldChg>
      <pc:sldChg chg="modSp modAnim">
        <pc:chgData name="Abel Vicencio" userId="45df5259ba3d81bd" providerId="LiveId" clId="{4EA767F8-A001-4D45-8B6D-690C8390DCD5}" dt="2026-04-11T15:20:29.310" v="17" actId="20577"/>
        <pc:sldMkLst>
          <pc:docMk/>
          <pc:sldMk cId="861512139" sldId="260"/>
        </pc:sldMkLst>
        <pc:spChg chg="mod">
          <ac:chgData name="Abel Vicencio" userId="45df5259ba3d81bd" providerId="LiveId" clId="{4EA767F8-A001-4D45-8B6D-690C8390DCD5}" dt="2026-04-11T15:20:29.310" v="17" actId="20577"/>
          <ac:spMkLst>
            <pc:docMk/>
            <pc:sldMk cId="861512139" sldId="260"/>
            <ac:spMk id="3" creationId="{00000000-0000-0000-0000-000000000000}"/>
          </ac:spMkLst>
        </pc:spChg>
      </pc:sldChg>
      <pc:sldChg chg="del">
        <pc:chgData name="Abel Vicencio" userId="45df5259ba3d81bd" providerId="LiveId" clId="{4EA767F8-A001-4D45-8B6D-690C8390DCD5}" dt="2026-04-11T15:20:35.585" v="20" actId="47"/>
        <pc:sldMkLst>
          <pc:docMk/>
          <pc:sldMk cId="3252174557" sldId="261"/>
        </pc:sldMkLst>
      </pc:sldChg>
      <pc:sldChg chg="del">
        <pc:chgData name="Abel Vicencio" userId="45df5259ba3d81bd" providerId="LiveId" clId="{4EA767F8-A001-4D45-8B6D-690C8390DCD5}" dt="2026-04-11T15:20:36.365" v="21" actId="47"/>
        <pc:sldMkLst>
          <pc:docMk/>
          <pc:sldMk cId="1167737588" sldId="262"/>
        </pc:sldMkLst>
      </pc:sldChg>
      <pc:sldChg chg="del">
        <pc:chgData name="Abel Vicencio" userId="45df5259ba3d81bd" providerId="LiveId" clId="{4EA767F8-A001-4D45-8B6D-690C8390DCD5}" dt="2026-04-11T15:20:34.420" v="18" actId="47"/>
        <pc:sldMkLst>
          <pc:docMk/>
          <pc:sldMk cId="2482797370" sldId="263"/>
        </pc:sldMkLst>
      </pc:sldChg>
      <pc:sldChg chg="del">
        <pc:chgData name="Abel Vicencio" userId="45df5259ba3d81bd" providerId="LiveId" clId="{4EA767F8-A001-4D45-8B6D-690C8390DCD5}" dt="2026-04-11T15:23:45.870" v="22" actId="47"/>
        <pc:sldMkLst>
          <pc:docMk/>
          <pc:sldMk cId="4264762447" sldId="267"/>
        </pc:sldMkLst>
      </pc:sldChg>
      <pc:sldChg chg="del">
        <pc:chgData name="Abel Vicencio" userId="45df5259ba3d81bd" providerId="LiveId" clId="{4EA767F8-A001-4D45-8B6D-690C8390DCD5}" dt="2026-04-11T15:23:47.748" v="23" actId="47"/>
        <pc:sldMkLst>
          <pc:docMk/>
          <pc:sldMk cId="4290597667" sldId="268"/>
        </pc:sldMkLst>
      </pc:sldChg>
      <pc:sldChg chg="del">
        <pc:chgData name="Abel Vicencio" userId="45df5259ba3d81bd" providerId="LiveId" clId="{4EA767F8-A001-4D45-8B6D-690C8390DCD5}" dt="2026-04-11T15:23:48.223" v="24" actId="47"/>
        <pc:sldMkLst>
          <pc:docMk/>
          <pc:sldMk cId="3983616872" sldId="269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11/04/2026</a:t>
            </a:fld>
            <a:endParaRPr lang="es-MX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26539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11/04/2026</a:t>
            </a:fld>
            <a:endParaRPr lang="es-MX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134273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11/04/2026</a:t>
            </a:fld>
            <a:endParaRPr lang="es-MX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760764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11/04/2026</a:t>
            </a:fld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758804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11/04/2026</a:t>
            </a:fld>
            <a:endParaRPr lang="es-MX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3054293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11/04/2026</a:t>
            </a:fld>
            <a:endParaRPr lang="es-MX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697933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11/04/2026</a:t>
            </a:fld>
            <a:endParaRPr lang="es-MX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9877404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11/04/2026</a:t>
            </a:fld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337305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11/04/2026</a:t>
            </a:fld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091867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11/04/2026</a:t>
            </a:fld>
            <a:endParaRPr lang="es-MX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6920386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11/04/2026</a:t>
            </a:fld>
            <a:endParaRPr lang="es-MX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060063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t="-61000" b="-6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75E14E-3399-4729-9487-008C58F41F51}" type="datetimeFigureOut">
              <a:rPr lang="es-MX" smtClean="0"/>
              <a:t>11/04/2026</a:t>
            </a:fld>
            <a:endParaRPr lang="es-MX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704CA6-9F73-4A6D-BC4D-1B760B372A0E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568964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61000" b="-6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MX" dirty="0">
                <a:latin typeface="Consolas" panose="020B0609020204030204" pitchFamily="49" charset="0"/>
              </a:rPr>
              <a:t>Introducción a R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MX" dirty="0">
                <a:solidFill>
                  <a:schemeClr val="bg2"/>
                </a:solidFill>
                <a:latin typeface="Consolas" panose="020B0609020204030204" pitchFamily="49" charset="0"/>
              </a:rPr>
              <a:t>Sesión 2</a:t>
            </a:r>
          </a:p>
        </p:txBody>
      </p:sp>
      <p:grpSp>
        <p:nvGrpSpPr>
          <p:cNvPr id="9" name="Grupo 8"/>
          <p:cNvGrpSpPr/>
          <p:nvPr/>
        </p:nvGrpSpPr>
        <p:grpSpPr>
          <a:xfrm>
            <a:off x="-9525" y="5135376"/>
            <a:ext cx="2033179" cy="1630683"/>
            <a:chOff x="0" y="5183001"/>
            <a:chExt cx="2033179" cy="1630683"/>
          </a:xfrm>
        </p:grpSpPr>
        <p:sp>
          <p:nvSpPr>
            <p:cNvPr id="7" name="Forma libre 6"/>
            <p:cNvSpPr/>
            <p:nvPr/>
          </p:nvSpPr>
          <p:spPr>
            <a:xfrm>
              <a:off x="1095676" y="5407025"/>
              <a:ext cx="818147" cy="991402"/>
            </a:xfrm>
            <a:custGeom>
              <a:avLst/>
              <a:gdLst>
                <a:gd name="connsiteX0" fmla="*/ 38501 w 818147"/>
                <a:gd name="connsiteY0" fmla="*/ 0 h 991402"/>
                <a:gd name="connsiteX1" fmla="*/ 818147 w 818147"/>
                <a:gd name="connsiteY1" fmla="*/ 375386 h 991402"/>
                <a:gd name="connsiteX2" fmla="*/ 818147 w 818147"/>
                <a:gd name="connsiteY2" fmla="*/ 991402 h 991402"/>
                <a:gd name="connsiteX3" fmla="*/ 442762 w 818147"/>
                <a:gd name="connsiteY3" fmla="*/ 789272 h 991402"/>
                <a:gd name="connsiteX4" fmla="*/ 375385 w 818147"/>
                <a:gd name="connsiteY4" fmla="*/ 760396 h 991402"/>
                <a:gd name="connsiteX5" fmla="*/ 0 w 818147"/>
                <a:gd name="connsiteY5" fmla="*/ 577516 h 991402"/>
                <a:gd name="connsiteX6" fmla="*/ 38501 w 818147"/>
                <a:gd name="connsiteY6" fmla="*/ 0 h 991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8147" h="991402">
                  <a:moveTo>
                    <a:pt x="38501" y="0"/>
                  </a:moveTo>
                  <a:lnTo>
                    <a:pt x="818147" y="375386"/>
                  </a:lnTo>
                  <a:lnTo>
                    <a:pt x="818147" y="991402"/>
                  </a:lnTo>
                  <a:lnTo>
                    <a:pt x="442762" y="789272"/>
                  </a:lnTo>
                  <a:lnTo>
                    <a:pt x="375385" y="760396"/>
                  </a:lnTo>
                  <a:lnTo>
                    <a:pt x="0" y="577516"/>
                  </a:lnTo>
                  <a:lnTo>
                    <a:pt x="38501" y="0"/>
                  </a:lnTo>
                  <a:close/>
                </a:path>
              </a:pathLst>
            </a:cu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pic>
          <p:nvPicPr>
            <p:cNvPr id="4" name="Imagen 3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7799" y="5183001"/>
              <a:ext cx="1865380" cy="1630683"/>
            </a:xfrm>
            <a:prstGeom prst="rect">
              <a:avLst/>
            </a:prstGeom>
          </p:spPr>
        </p:pic>
        <p:pic>
          <p:nvPicPr>
            <p:cNvPr id="8" name="Imagen 7"/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908"/>
            <a:stretch/>
          </p:blipFill>
          <p:spPr>
            <a:xfrm>
              <a:off x="0" y="5554095"/>
              <a:ext cx="1932873" cy="85039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407680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8DD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>
                <a:latin typeface="Consolas" panose="020B0609020204030204" pitchFamily="49" charset="0"/>
              </a:rPr>
              <a:t>Objetivos del día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1514475"/>
            <a:ext cx="10229850" cy="5172075"/>
          </a:xfrm>
        </p:spPr>
        <p:txBody>
          <a:bodyPr numCol="2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s-MX" sz="2000" b="1" dirty="0">
                <a:solidFill>
                  <a:schemeClr val="accent2"/>
                </a:solidFill>
                <a:latin typeface="Consolas" panose="020B0609020204030204" pitchFamily="49" charset="0"/>
              </a:rPr>
              <a:t>¿Por qué R?</a:t>
            </a:r>
          </a:p>
          <a:p>
            <a:pPr lvl="1"/>
            <a:r>
              <a:rPr lang="es-MX" sz="1800" dirty="0" err="1">
                <a:latin typeface="Consolas" panose="020B0609020204030204" pitchFamily="49" charset="0"/>
              </a:rPr>
              <a:t>Recap</a:t>
            </a:r>
            <a:endParaRPr lang="es-MX" sz="1800" dirty="0">
              <a:latin typeface="Consolas" panose="020B0609020204030204" pitchFamily="49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s-MX" sz="2000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Tidyverse</a:t>
            </a:r>
            <a:endParaRPr lang="es-MX" sz="2000" b="1" i="1" dirty="0">
              <a:solidFill>
                <a:schemeClr val="accent2"/>
              </a:solidFill>
              <a:latin typeface="Consolas" panose="020B0609020204030204" pitchFamily="49" charset="0"/>
            </a:endParaRPr>
          </a:p>
          <a:p>
            <a:pPr lvl="1"/>
            <a:r>
              <a:rPr lang="es-MX" sz="1800" dirty="0">
                <a:latin typeface="Consolas" panose="020B0609020204030204" pitchFamily="49" charset="0"/>
              </a:rPr>
              <a:t>Carga de datos</a:t>
            </a:r>
          </a:p>
          <a:p>
            <a:pPr lvl="1"/>
            <a:r>
              <a:rPr lang="es-MX" sz="1800" dirty="0">
                <a:latin typeface="Consolas" panose="020B0609020204030204" pitchFamily="49" charset="0"/>
              </a:rPr>
              <a:t>Limpieza</a:t>
            </a:r>
          </a:p>
          <a:p>
            <a:pPr lvl="1"/>
            <a:r>
              <a:rPr lang="es-MX" sz="1800" dirty="0">
                <a:latin typeface="Consolas" panose="020B0609020204030204" pitchFamily="49" charset="0"/>
              </a:rPr>
              <a:t>Manipulación</a:t>
            </a:r>
          </a:p>
          <a:p>
            <a:pPr lvl="2"/>
            <a:r>
              <a:rPr lang="es-MX" sz="1600" dirty="0">
                <a:latin typeface="Consolas" panose="020B0609020204030204" pitchFamily="49" charset="0"/>
              </a:rPr>
              <a:t>Operaciones numéricas</a:t>
            </a:r>
          </a:p>
          <a:p>
            <a:pPr lvl="2"/>
            <a:r>
              <a:rPr lang="es-MX" sz="1600" dirty="0">
                <a:latin typeface="Consolas" panose="020B0609020204030204" pitchFamily="49" charset="0"/>
              </a:rPr>
              <a:t>Operaciones con </a:t>
            </a:r>
            <a:r>
              <a:rPr lang="es-MX" sz="1600" i="1" dirty="0" err="1">
                <a:latin typeface="Consolas" panose="020B0609020204030204" pitchFamily="49" charset="0"/>
              </a:rPr>
              <a:t>strings</a:t>
            </a:r>
            <a:endParaRPr lang="es-MX" sz="1600" i="1" dirty="0">
              <a:latin typeface="Consolas" panose="020B0609020204030204" pitchFamily="49" charset="0"/>
            </a:endParaRPr>
          </a:p>
          <a:p>
            <a:pPr lvl="2"/>
            <a:r>
              <a:rPr lang="es-MX" sz="1600" dirty="0">
                <a:latin typeface="Consolas" panose="020B0609020204030204" pitchFamily="49" charset="0"/>
              </a:rPr>
              <a:t>Agrupado y colapsado</a:t>
            </a:r>
          </a:p>
          <a:p>
            <a:pPr lvl="1"/>
            <a:r>
              <a:rPr lang="es-MX" sz="1800" dirty="0">
                <a:latin typeface="Consolas" panose="020B0609020204030204" pitchFamily="49" charset="0"/>
              </a:rPr>
              <a:t>Exportado</a:t>
            </a:r>
          </a:p>
          <a:p>
            <a:pPr marL="514350" indent="-514350">
              <a:buFont typeface="+mj-lt"/>
              <a:buAutoNum type="arabicPeriod"/>
            </a:pPr>
            <a:r>
              <a:rPr lang="es-MX" sz="2000" b="1" dirty="0">
                <a:solidFill>
                  <a:schemeClr val="accent2"/>
                </a:solidFill>
                <a:latin typeface="Consolas" panose="020B0609020204030204" pitchFamily="49" charset="0"/>
              </a:rPr>
              <a:t>Flujo de trabajo completo</a:t>
            </a:r>
          </a:p>
          <a:p>
            <a:pPr lvl="1"/>
            <a:r>
              <a:rPr lang="es-MX" sz="1800" dirty="0">
                <a:latin typeface="Consolas" panose="020B0609020204030204" pitchFamily="49" charset="0"/>
              </a:rPr>
              <a:t>Diseño de </a:t>
            </a:r>
            <a:r>
              <a:rPr lang="es-MX" sz="1800" i="1" dirty="0">
                <a:latin typeface="Consolas" panose="020B0609020204030204" pitchFamily="49" charset="0"/>
              </a:rPr>
              <a:t>pipeline</a:t>
            </a:r>
          </a:p>
          <a:p>
            <a:pPr lvl="1"/>
            <a:r>
              <a:rPr lang="es-MX" sz="1800" dirty="0">
                <a:latin typeface="Consolas" panose="020B0609020204030204" pitchFamily="49" charset="0"/>
              </a:rPr>
              <a:t>Reproductibilidad</a:t>
            </a:r>
          </a:p>
          <a:p>
            <a:pPr marL="514350" indent="-514350">
              <a:buFont typeface="+mj-lt"/>
              <a:buAutoNum type="arabicPeriod"/>
            </a:pPr>
            <a:endParaRPr lang="es-MX" sz="1600" dirty="0">
              <a:solidFill>
                <a:schemeClr val="accent2"/>
              </a:solidFill>
            </a:endParaRPr>
          </a:p>
          <a:p>
            <a:pPr marL="514350" indent="-514350">
              <a:buFont typeface="+mj-lt"/>
              <a:buAutoNum type="arabicPeriod"/>
            </a:pPr>
            <a:endParaRPr lang="es-MX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28" b="31536"/>
          <a:stretch/>
        </p:blipFill>
        <p:spPr>
          <a:xfrm rot="191927" flipH="1">
            <a:off x="8639174" y="3370954"/>
            <a:ext cx="3304033" cy="3639445"/>
          </a:xfrm>
          <a:prstGeom prst="rtTriangle">
            <a:avLst/>
          </a:prstGeom>
        </p:spPr>
      </p:pic>
      <p:sp>
        <p:nvSpPr>
          <p:cNvPr id="5" name="CuadroTexto 4"/>
          <p:cNvSpPr txBox="1"/>
          <p:nvPr/>
        </p:nvSpPr>
        <p:spPr>
          <a:xfrm>
            <a:off x="6305551" y="3449955"/>
            <a:ext cx="38481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accent1"/>
                </a:solidFill>
                <a:latin typeface="Consolas" panose="020B0609020204030204" pitchFamily="49" charset="0"/>
              </a:rPr>
              <a:t>Al final de la sesión, serás capaz de crear un pipeline básico en R que transforme datos brutos en una base lista para análisis.</a:t>
            </a:r>
          </a:p>
        </p:txBody>
      </p:sp>
    </p:spTree>
    <p:extLst>
      <p:ext uri="{BB962C8B-B14F-4D97-AF65-F5344CB8AC3E}">
        <p14:creationId xmlns:p14="http://schemas.microsoft.com/office/powerpoint/2010/main" val="861512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8DD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b="1" dirty="0">
                <a:latin typeface="Consolas" panose="020B0609020204030204" pitchFamily="49" charset="0"/>
              </a:rPr>
              <a:t>Paquetes y </a:t>
            </a:r>
            <a:r>
              <a:rPr lang="es-MX" b="1" i="1" dirty="0" err="1">
                <a:latin typeface="Consolas" panose="020B0609020204030204" pitchFamily="49" charset="0"/>
              </a:rPr>
              <a:t>tidyverse</a:t>
            </a:r>
            <a:endParaRPr lang="es-MX" b="1" i="1" dirty="0">
              <a:latin typeface="Consolas" panose="020B0609020204030204" pitchFamily="49" charset="0"/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1825625"/>
            <a:ext cx="6578600" cy="4351338"/>
          </a:xfrm>
        </p:spPr>
        <p:txBody>
          <a:bodyPr>
            <a:normAutofit fontScale="92500" lnSpcReduction="20000"/>
          </a:bodyPr>
          <a:lstStyle/>
          <a:p>
            <a:r>
              <a:rPr lang="es-MX" dirty="0">
                <a:latin typeface="Consolas" panose="020B0609020204030204" pitchFamily="49" charset="0"/>
              </a:rPr>
              <a:t>R se expande mediante </a:t>
            </a:r>
            <a:r>
              <a:rPr lang="es-MX" b="1" dirty="0">
                <a:solidFill>
                  <a:schemeClr val="accent2"/>
                </a:solidFill>
                <a:latin typeface="Consolas" panose="020B0609020204030204" pitchFamily="49" charset="0"/>
              </a:rPr>
              <a:t>paquetes</a:t>
            </a:r>
            <a:r>
              <a:rPr lang="es-MX" dirty="0">
                <a:solidFill>
                  <a:schemeClr val="accent2"/>
                </a:solidFill>
                <a:latin typeface="Consolas" panose="020B0609020204030204" pitchFamily="49" charset="0"/>
              </a:rPr>
              <a:t> </a:t>
            </a:r>
            <a:r>
              <a:rPr lang="es-MX" dirty="0">
                <a:latin typeface="Consolas" panose="020B0609020204030204" pitchFamily="49" charset="0"/>
              </a:rPr>
              <a:t>(funciones adicionales).</a:t>
            </a:r>
          </a:p>
          <a:p>
            <a:r>
              <a:rPr lang="es-MX" dirty="0">
                <a:latin typeface="Consolas" panose="020B0609020204030204" pitchFamily="49" charset="0"/>
              </a:rPr>
              <a:t>Se instalan desde CRAN con </a:t>
            </a:r>
            <a:r>
              <a:rPr lang="es-MX" dirty="0" err="1">
                <a:solidFill>
                  <a:schemeClr val="accent2"/>
                </a:solidFill>
                <a:latin typeface="Consolas" panose="020B0609020204030204" pitchFamily="49" charset="0"/>
              </a:rPr>
              <a:t>install.packages</a:t>
            </a:r>
            <a:r>
              <a:rPr lang="es-MX" dirty="0">
                <a:solidFill>
                  <a:schemeClr val="accent2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s-MX" dirty="0">
                <a:latin typeface="Consolas" panose="020B0609020204030204" pitchFamily="49" charset="0"/>
              </a:rPr>
              <a:t>Se cargan con </a:t>
            </a:r>
            <a:r>
              <a:rPr lang="es-MX" dirty="0" err="1">
                <a:solidFill>
                  <a:schemeClr val="accent2"/>
                </a:solidFill>
                <a:latin typeface="Consolas" panose="020B0609020204030204" pitchFamily="49" charset="0"/>
              </a:rPr>
              <a:t>library</a:t>
            </a:r>
            <a:r>
              <a:rPr lang="es-MX" dirty="0">
                <a:solidFill>
                  <a:schemeClr val="accent2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s-MX" b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Tidyverse</a:t>
            </a:r>
            <a:r>
              <a:rPr lang="es-MX" dirty="0">
                <a:solidFill>
                  <a:schemeClr val="accent2"/>
                </a:solidFill>
                <a:latin typeface="Consolas" panose="020B0609020204030204" pitchFamily="49" charset="0"/>
              </a:rPr>
              <a:t> </a:t>
            </a:r>
            <a:r>
              <a:rPr lang="es-MX" dirty="0">
                <a:latin typeface="Consolas" panose="020B0609020204030204" pitchFamily="49" charset="0"/>
              </a:rPr>
              <a:t>es un conjunto de paquetes para análisis de datos.</a:t>
            </a:r>
          </a:p>
          <a:p>
            <a:pPr lvl="1"/>
            <a:r>
              <a:rPr lang="es-MX" dirty="0">
                <a:latin typeface="Consolas" panose="020B0609020204030204" pitchFamily="49" charset="0"/>
              </a:rPr>
              <a:t>Sintaxis consistente y fácil de leer.</a:t>
            </a:r>
          </a:p>
          <a:p>
            <a:pPr lvl="1"/>
            <a:r>
              <a:rPr lang="es-MX" dirty="0">
                <a:latin typeface="Consolas" panose="020B0609020204030204" pitchFamily="49" charset="0"/>
              </a:rPr>
              <a:t>Incluye herramientas para importar, limpiar, transformar y visualizar datos.</a:t>
            </a:r>
          </a:p>
          <a:p>
            <a:pPr lvl="1"/>
            <a:r>
              <a:rPr lang="es-MX" dirty="0">
                <a:latin typeface="Consolas" panose="020B0609020204030204" pitchFamily="49" charset="0"/>
              </a:rPr>
              <a:t>Paquetes clave: </a:t>
            </a:r>
            <a:r>
              <a:rPr lang="es-MX" b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dplyr</a:t>
            </a:r>
            <a:r>
              <a:rPr lang="es-MX" b="1" dirty="0">
                <a:solidFill>
                  <a:schemeClr val="accent2"/>
                </a:solidFill>
                <a:latin typeface="Consolas" panose="020B0609020204030204" pitchFamily="49" charset="0"/>
              </a:rPr>
              <a:t>, </a:t>
            </a:r>
            <a:r>
              <a:rPr lang="es-MX" b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tidyr</a:t>
            </a:r>
            <a:r>
              <a:rPr lang="es-MX" b="1" dirty="0">
                <a:solidFill>
                  <a:schemeClr val="accent2"/>
                </a:solidFill>
                <a:latin typeface="Consolas" panose="020B0609020204030204" pitchFamily="49" charset="0"/>
              </a:rPr>
              <a:t>, </a:t>
            </a:r>
            <a:r>
              <a:rPr lang="es-MX" b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readr</a:t>
            </a:r>
            <a:r>
              <a:rPr lang="es-MX" b="1" dirty="0">
                <a:solidFill>
                  <a:schemeClr val="accent2"/>
                </a:solidFill>
                <a:latin typeface="Consolas" panose="020B0609020204030204" pitchFamily="49" charset="0"/>
              </a:rPr>
              <a:t>, ggplot2</a:t>
            </a:r>
            <a:r>
              <a:rPr lang="es-MX" dirty="0">
                <a:solidFill>
                  <a:schemeClr val="accent2"/>
                </a:solidFill>
                <a:latin typeface="Consolas" panose="020B0609020204030204" pitchFamily="49" charset="0"/>
              </a:rPr>
              <a:t>.</a:t>
            </a:r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6625" y="1825625"/>
            <a:ext cx="4753082" cy="3690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817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8DD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MX" sz="4000" b="1" dirty="0">
                <a:latin typeface="Consolas" panose="020B0609020204030204" pitchFamily="49" charset="0"/>
              </a:rPr>
              <a:t>Operador pipe y funciones </a:t>
            </a:r>
            <a:r>
              <a:rPr lang="es-MX" sz="4000" b="1" i="1" dirty="0" err="1">
                <a:latin typeface="Consolas" panose="020B0609020204030204" pitchFamily="49" charset="0"/>
              </a:rPr>
              <a:t>dplyr</a:t>
            </a:r>
            <a:endParaRPr lang="es-MX" sz="4000" b="1" i="1" dirty="0">
              <a:latin typeface="Consolas" panose="020B0609020204030204" pitchFamily="49" charset="0"/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1422400"/>
            <a:ext cx="10718800" cy="4978400"/>
          </a:xfrm>
        </p:spPr>
        <p:txBody>
          <a:bodyPr>
            <a:normAutofit fontScale="70000" lnSpcReduction="20000"/>
          </a:bodyPr>
          <a:lstStyle/>
          <a:p>
            <a:r>
              <a:rPr lang="es-MX" dirty="0">
                <a:latin typeface="Consolas" panose="020B0609020204030204" pitchFamily="49" charset="0"/>
              </a:rPr>
              <a:t>Operador pipe (%&gt;%)</a:t>
            </a:r>
          </a:p>
          <a:p>
            <a:pPr lvl="1"/>
            <a:r>
              <a:rPr lang="es-MX" dirty="0">
                <a:latin typeface="Consolas" panose="020B0609020204030204" pitchFamily="49" charset="0"/>
              </a:rPr>
              <a:t>Permite </a:t>
            </a:r>
            <a:r>
              <a:rPr lang="es-MX" b="1" dirty="0">
                <a:solidFill>
                  <a:schemeClr val="accent2"/>
                </a:solidFill>
                <a:latin typeface="Consolas" panose="020B0609020204030204" pitchFamily="49" charset="0"/>
              </a:rPr>
              <a:t>encadenar</a:t>
            </a:r>
            <a:r>
              <a:rPr lang="es-MX" dirty="0">
                <a:solidFill>
                  <a:schemeClr val="accent2"/>
                </a:solidFill>
                <a:latin typeface="Consolas" panose="020B0609020204030204" pitchFamily="49" charset="0"/>
              </a:rPr>
              <a:t> </a:t>
            </a:r>
            <a:r>
              <a:rPr lang="es-MX" dirty="0">
                <a:latin typeface="Consolas" panose="020B0609020204030204" pitchFamily="49" charset="0"/>
              </a:rPr>
              <a:t>pasos de análisis de forma clara.</a:t>
            </a:r>
          </a:p>
          <a:p>
            <a:pPr lvl="1"/>
            <a:r>
              <a:rPr lang="es-MX" dirty="0">
                <a:latin typeface="Consolas" panose="020B0609020204030204" pitchFamily="49" charset="0"/>
              </a:rPr>
              <a:t>Se lee como </a:t>
            </a:r>
            <a:r>
              <a:rPr lang="es-MX" b="1" dirty="0">
                <a:solidFill>
                  <a:schemeClr val="accent2"/>
                </a:solidFill>
                <a:latin typeface="Consolas" panose="020B0609020204030204" pitchFamily="49" charset="0"/>
              </a:rPr>
              <a:t>“y luego”</a:t>
            </a:r>
            <a:r>
              <a:rPr lang="es-MX" dirty="0">
                <a:solidFill>
                  <a:schemeClr val="accent2"/>
                </a:solidFill>
                <a:latin typeface="Consolas" panose="020B0609020204030204" pitchFamily="49" charset="0"/>
              </a:rPr>
              <a:t>.</a:t>
            </a:r>
          </a:p>
          <a:p>
            <a:pPr lvl="1"/>
            <a:r>
              <a:rPr lang="es-MX" dirty="0">
                <a:latin typeface="Consolas" panose="020B0609020204030204" pitchFamily="49" charset="0"/>
              </a:rPr>
              <a:t>Toma el resultado de una línea y lo pasa a la siguiente.</a:t>
            </a:r>
          </a:p>
          <a:p>
            <a:pPr lvl="1"/>
            <a:r>
              <a:rPr lang="es-MX" dirty="0">
                <a:latin typeface="Consolas" panose="020B0609020204030204" pitchFamily="49" charset="0"/>
              </a:rPr>
              <a:t>Usado ampliamente en el </a:t>
            </a:r>
            <a:r>
              <a:rPr lang="es-MX" b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tidyverse</a:t>
            </a:r>
            <a:r>
              <a:rPr lang="es-MX" dirty="0">
                <a:latin typeface="Consolas" panose="020B0609020204030204" pitchFamily="49" charset="0"/>
              </a:rPr>
              <a:t>.</a:t>
            </a:r>
          </a:p>
          <a:p>
            <a:pPr lvl="1"/>
            <a:endParaRPr lang="es-MX" dirty="0">
              <a:latin typeface="Consolas" panose="020B0609020204030204" pitchFamily="49" charset="0"/>
            </a:endParaRPr>
          </a:p>
          <a:p>
            <a:r>
              <a:rPr lang="es-MX" dirty="0" err="1">
                <a:latin typeface="Consolas" panose="020B0609020204030204" pitchFamily="49" charset="0"/>
              </a:rPr>
              <a:t>Filter</a:t>
            </a:r>
            <a:r>
              <a:rPr lang="es-MX" dirty="0">
                <a:latin typeface="Consolas" panose="020B0609020204030204" pitchFamily="49" charset="0"/>
              </a:rPr>
              <a:t>()</a:t>
            </a:r>
          </a:p>
          <a:p>
            <a:pPr lvl="1"/>
            <a:r>
              <a:rPr lang="es-MX" b="1" dirty="0">
                <a:solidFill>
                  <a:schemeClr val="accent2"/>
                </a:solidFill>
                <a:latin typeface="Consolas" panose="020B0609020204030204" pitchFamily="49" charset="0"/>
              </a:rPr>
              <a:t>Selecciona</a:t>
            </a:r>
            <a:r>
              <a:rPr lang="es-MX" dirty="0">
                <a:solidFill>
                  <a:schemeClr val="accent2"/>
                </a:solidFill>
                <a:latin typeface="Consolas" panose="020B0609020204030204" pitchFamily="49" charset="0"/>
              </a:rPr>
              <a:t> </a:t>
            </a:r>
            <a:r>
              <a:rPr lang="es-MX" dirty="0">
                <a:latin typeface="Consolas" panose="020B0609020204030204" pitchFamily="49" charset="0"/>
              </a:rPr>
              <a:t>filas que cumplen una condición (filtrado por criterios).</a:t>
            </a:r>
          </a:p>
          <a:p>
            <a:r>
              <a:rPr lang="es-MX" dirty="0" err="1">
                <a:latin typeface="Consolas" panose="020B0609020204030204" pitchFamily="49" charset="0"/>
              </a:rPr>
              <a:t>Mutate</a:t>
            </a:r>
            <a:r>
              <a:rPr lang="es-MX" dirty="0">
                <a:latin typeface="Consolas" panose="020B0609020204030204" pitchFamily="49" charset="0"/>
              </a:rPr>
              <a:t>()</a:t>
            </a:r>
          </a:p>
          <a:p>
            <a:pPr lvl="1"/>
            <a:r>
              <a:rPr lang="es-MX" b="1" dirty="0">
                <a:solidFill>
                  <a:srgbClr val="79ADDC"/>
                </a:solidFill>
                <a:latin typeface="Consolas" panose="020B0609020204030204" pitchFamily="49" charset="0"/>
              </a:rPr>
              <a:t>Crea</a:t>
            </a:r>
            <a:r>
              <a:rPr lang="es-MX" dirty="0">
                <a:latin typeface="Consolas" panose="020B0609020204030204" pitchFamily="49" charset="0"/>
              </a:rPr>
              <a:t> nuevas columnas o </a:t>
            </a:r>
            <a:r>
              <a:rPr lang="es-MX" b="1" dirty="0">
                <a:solidFill>
                  <a:schemeClr val="accent2"/>
                </a:solidFill>
                <a:latin typeface="Consolas" panose="020B0609020204030204" pitchFamily="49" charset="0"/>
              </a:rPr>
              <a:t>modifica</a:t>
            </a:r>
            <a:r>
              <a:rPr lang="es-MX" dirty="0">
                <a:solidFill>
                  <a:schemeClr val="accent2"/>
                </a:solidFill>
                <a:latin typeface="Consolas" panose="020B0609020204030204" pitchFamily="49" charset="0"/>
              </a:rPr>
              <a:t> </a:t>
            </a:r>
            <a:r>
              <a:rPr lang="es-MX" dirty="0">
                <a:latin typeface="Consolas" panose="020B0609020204030204" pitchFamily="49" charset="0"/>
              </a:rPr>
              <a:t>columnas existentes.</a:t>
            </a:r>
          </a:p>
          <a:p>
            <a:r>
              <a:rPr lang="es-MX" dirty="0" err="1">
                <a:latin typeface="Consolas" panose="020B0609020204030204" pitchFamily="49" charset="0"/>
              </a:rPr>
              <a:t>Select</a:t>
            </a:r>
            <a:r>
              <a:rPr lang="es-MX" dirty="0">
                <a:latin typeface="Consolas" panose="020B0609020204030204" pitchFamily="49" charset="0"/>
              </a:rPr>
              <a:t>()</a:t>
            </a:r>
          </a:p>
          <a:p>
            <a:pPr lvl="1"/>
            <a:r>
              <a:rPr lang="es-MX" b="1" dirty="0">
                <a:solidFill>
                  <a:schemeClr val="accent2"/>
                </a:solidFill>
                <a:latin typeface="Consolas" panose="020B0609020204030204" pitchFamily="49" charset="0"/>
              </a:rPr>
              <a:t>Elige columnas </a:t>
            </a:r>
            <a:r>
              <a:rPr lang="es-MX" dirty="0">
                <a:latin typeface="Consolas" panose="020B0609020204030204" pitchFamily="49" charset="0"/>
              </a:rPr>
              <a:t>específicas del </a:t>
            </a:r>
            <a:r>
              <a:rPr lang="es-MX" dirty="0" err="1">
                <a:latin typeface="Consolas" panose="020B0609020204030204" pitchFamily="49" charset="0"/>
              </a:rPr>
              <a:t>dataframe</a:t>
            </a:r>
            <a:r>
              <a:rPr lang="es-MX" dirty="0">
                <a:latin typeface="Consolas" panose="020B0609020204030204" pitchFamily="49" charset="0"/>
              </a:rPr>
              <a:t>. Útil para limpiar y enfocar la tabla.</a:t>
            </a:r>
          </a:p>
          <a:p>
            <a:r>
              <a:rPr lang="es-MX" dirty="0" err="1">
                <a:latin typeface="Consolas" panose="020B0609020204030204" pitchFamily="49" charset="0"/>
              </a:rPr>
              <a:t>Group_by</a:t>
            </a:r>
            <a:r>
              <a:rPr lang="es-MX" dirty="0">
                <a:latin typeface="Consolas" panose="020B0609020204030204" pitchFamily="49" charset="0"/>
              </a:rPr>
              <a:t>()</a:t>
            </a:r>
          </a:p>
          <a:p>
            <a:pPr lvl="1"/>
            <a:r>
              <a:rPr lang="es-MX" b="1" dirty="0">
                <a:solidFill>
                  <a:schemeClr val="accent2"/>
                </a:solidFill>
                <a:latin typeface="Consolas" panose="020B0609020204030204" pitchFamily="49" charset="0"/>
              </a:rPr>
              <a:t>Agrupa</a:t>
            </a:r>
            <a:r>
              <a:rPr lang="es-MX" dirty="0">
                <a:solidFill>
                  <a:schemeClr val="accent2"/>
                </a:solidFill>
                <a:latin typeface="Consolas" panose="020B0609020204030204" pitchFamily="49" charset="0"/>
              </a:rPr>
              <a:t> </a:t>
            </a:r>
            <a:r>
              <a:rPr lang="es-MX" dirty="0">
                <a:latin typeface="Consolas" panose="020B0609020204030204" pitchFamily="49" charset="0"/>
              </a:rPr>
              <a:t>los datos por una o varias variables para poder resumirlos.</a:t>
            </a:r>
          </a:p>
          <a:p>
            <a:r>
              <a:rPr lang="es-MX" dirty="0" err="1">
                <a:latin typeface="Consolas" panose="020B0609020204030204" pitchFamily="49" charset="0"/>
              </a:rPr>
              <a:t>Summarize</a:t>
            </a:r>
            <a:r>
              <a:rPr lang="es-MX" dirty="0">
                <a:latin typeface="Consolas" panose="020B0609020204030204" pitchFamily="49" charset="0"/>
              </a:rPr>
              <a:t>()</a:t>
            </a:r>
          </a:p>
          <a:p>
            <a:pPr lvl="1"/>
            <a:r>
              <a:rPr lang="es-MX" dirty="0">
                <a:latin typeface="Consolas" panose="020B0609020204030204" pitchFamily="49" charset="0"/>
              </a:rPr>
              <a:t>Crea un </a:t>
            </a:r>
            <a:r>
              <a:rPr lang="es-MX" b="1" dirty="0">
                <a:solidFill>
                  <a:schemeClr val="accent2"/>
                </a:solidFill>
                <a:latin typeface="Consolas" panose="020B0609020204030204" pitchFamily="49" charset="0"/>
              </a:rPr>
              <a:t>resumen</a:t>
            </a:r>
            <a:r>
              <a:rPr lang="es-MX" dirty="0">
                <a:solidFill>
                  <a:schemeClr val="accent2"/>
                </a:solidFill>
                <a:latin typeface="Consolas" panose="020B0609020204030204" pitchFamily="49" charset="0"/>
              </a:rPr>
              <a:t> </a:t>
            </a:r>
            <a:r>
              <a:rPr lang="es-MX" dirty="0">
                <a:latin typeface="Consolas" panose="020B0609020204030204" pitchFamily="49" charset="0"/>
              </a:rPr>
              <a:t>de los datos: promedios, conteos, mínimos, máximos, etc.</a:t>
            </a:r>
          </a:p>
        </p:txBody>
      </p:sp>
    </p:spTree>
    <p:extLst>
      <p:ext uri="{BB962C8B-B14F-4D97-AF65-F5344CB8AC3E}">
        <p14:creationId xmlns:p14="http://schemas.microsoft.com/office/powerpoint/2010/main" val="245751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3031331"/>
            <a:ext cx="9144000" cy="795338"/>
          </a:xfrm>
        </p:spPr>
        <p:txBody>
          <a:bodyPr>
            <a:normAutofit fontScale="90000"/>
          </a:bodyPr>
          <a:lstStyle/>
          <a:p>
            <a:r>
              <a:rPr lang="es-MX" dirty="0">
                <a:latin typeface="Consolas" panose="020B0609020204030204" pitchFamily="49" charset="0"/>
              </a:rPr>
              <a:t>Carga y manipulación con </a:t>
            </a:r>
            <a:r>
              <a:rPr lang="es-MX" i="1" dirty="0" err="1">
                <a:latin typeface="Consolas" panose="020B0609020204030204" pitchFamily="49" charset="0"/>
              </a:rPr>
              <a:t>Tidyverse</a:t>
            </a:r>
            <a:endParaRPr lang="es-MX" i="1" dirty="0">
              <a:latin typeface="Consolas" panose="020B0609020204030204" pitchFamily="49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452"/>
          <a:stretch/>
        </p:blipFill>
        <p:spPr>
          <a:xfrm>
            <a:off x="10364723" y="5827775"/>
            <a:ext cx="1646302" cy="896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78424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Paleta_Mafer">
      <a:dk1>
        <a:srgbClr val="F2F2F2"/>
      </a:dk1>
      <a:lt1>
        <a:srgbClr val="3F3F3F"/>
      </a:lt1>
      <a:dk2>
        <a:srgbClr val="7F7F7F"/>
      </a:dk2>
      <a:lt2>
        <a:srgbClr val="E7E6E6"/>
      </a:lt2>
      <a:accent1>
        <a:srgbClr val="FFF79D"/>
      </a:accent1>
      <a:accent2>
        <a:srgbClr val="FF9A95"/>
      </a:accent2>
      <a:accent3>
        <a:srgbClr val="A78EC8"/>
      </a:accent3>
      <a:accent4>
        <a:srgbClr val="2EBCEE"/>
      </a:accent4>
      <a:accent5>
        <a:srgbClr val="4472C4"/>
      </a:accent5>
      <a:accent6>
        <a:srgbClr val="EBDAE2"/>
      </a:accent6>
      <a:hlink>
        <a:srgbClr val="C5E0B3"/>
      </a:hlink>
      <a:folHlink>
        <a:srgbClr val="FEE599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563</TotalTime>
  <Words>252</Words>
  <Application>Microsoft Office PowerPoint</Application>
  <PresentationFormat>Widescreen</PresentationFormat>
  <Paragraphs>43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Consolas</vt:lpstr>
      <vt:lpstr>Tema de Office</vt:lpstr>
      <vt:lpstr>Introducción a R</vt:lpstr>
      <vt:lpstr>Objetivos del día</vt:lpstr>
      <vt:lpstr>Paquetes y tidyverse</vt:lpstr>
      <vt:lpstr>Operador pipe y funciones dplyr</vt:lpstr>
      <vt:lpstr>Carga y manipulación con Tidyverse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Introducción a R</dc:title>
  <dc:creator>user</dc:creator>
  <cp:lastModifiedBy>Abel Vicencio</cp:lastModifiedBy>
  <cp:revision>27</cp:revision>
  <dcterms:created xsi:type="dcterms:W3CDTF">2025-12-13T08:20:06Z</dcterms:created>
  <dcterms:modified xsi:type="dcterms:W3CDTF">2026-04-11T15:23:56Z</dcterms:modified>
</cp:coreProperties>
</file>