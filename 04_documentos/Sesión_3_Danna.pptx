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69" r:id="rId5"/>
    <p:sldId id="268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5282DA-6695-4B6C-84CD-88D3906D6678}" v="5" dt="2026-04-11T15:20:29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delSld modSld">
      <pc:chgData name="Abel Vicencio" userId="45df5259ba3d81bd" providerId="LiveId" clId="{4EA767F8-A001-4D45-8B6D-690C8390DCD5}" dt="2026-04-11T15:23:48.223" v="24" actId="47"/>
      <pc:docMkLst>
        <pc:docMk/>
      </pc:docMkLst>
      <pc:sldChg chg="modSp mod">
        <pc:chgData name="Abel Vicencio" userId="45df5259ba3d81bd" providerId="LiveId" clId="{4EA767F8-A001-4D45-8B6D-690C8390DCD5}" dt="2026-04-11T15:17:13.742" v="11" actId="20577"/>
        <pc:sldMkLst>
          <pc:docMk/>
          <pc:sldMk cId="2040768073" sldId="256"/>
        </pc:sldMkLst>
        <pc:spChg chg="mod">
          <ac:chgData name="Abel Vicencio" userId="45df5259ba3d81bd" providerId="LiveId" clId="{4EA767F8-A001-4D45-8B6D-690C8390DCD5}" dt="2026-04-11T15:17:13.742" v="11" actId="20577"/>
          <ac:spMkLst>
            <pc:docMk/>
            <pc:sldMk cId="2040768073" sldId="256"/>
            <ac:spMk id="3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6-04-11T15:20:34.935" v="19" actId="47"/>
        <pc:sldMkLst>
          <pc:docMk/>
          <pc:sldMk cId="1677073673" sldId="258"/>
        </pc:sldMkLst>
      </pc:sldChg>
      <pc:sldChg chg="del">
        <pc:chgData name="Abel Vicencio" userId="45df5259ba3d81bd" providerId="LiveId" clId="{4EA767F8-A001-4D45-8B6D-690C8390DCD5}" dt="2026-04-11T15:20:22.906" v="12" actId="47"/>
        <pc:sldMkLst>
          <pc:docMk/>
          <pc:sldMk cId="1837039480" sldId="259"/>
        </pc:sldMkLst>
      </pc:sldChg>
      <pc:sldChg chg="modSp modAnim">
        <pc:chgData name="Abel Vicencio" userId="45df5259ba3d81bd" providerId="LiveId" clId="{4EA767F8-A001-4D45-8B6D-690C8390DCD5}" dt="2026-04-11T15:20:29.310" v="17" actId="20577"/>
        <pc:sldMkLst>
          <pc:docMk/>
          <pc:sldMk cId="861512139" sldId="260"/>
        </pc:sldMkLst>
        <pc:spChg chg="mod">
          <ac:chgData name="Abel Vicencio" userId="45df5259ba3d81bd" providerId="LiveId" clId="{4EA767F8-A001-4D45-8B6D-690C8390DCD5}" dt="2026-04-11T15:20:29.310" v="17" actId="20577"/>
          <ac:spMkLst>
            <pc:docMk/>
            <pc:sldMk cId="861512139" sldId="260"/>
            <ac:spMk id="3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6-04-11T15:20:35.585" v="20" actId="47"/>
        <pc:sldMkLst>
          <pc:docMk/>
          <pc:sldMk cId="3252174557" sldId="261"/>
        </pc:sldMkLst>
      </pc:sldChg>
      <pc:sldChg chg="del">
        <pc:chgData name="Abel Vicencio" userId="45df5259ba3d81bd" providerId="LiveId" clId="{4EA767F8-A001-4D45-8B6D-690C8390DCD5}" dt="2026-04-11T15:20:36.365" v="21" actId="47"/>
        <pc:sldMkLst>
          <pc:docMk/>
          <pc:sldMk cId="1167737588" sldId="262"/>
        </pc:sldMkLst>
      </pc:sldChg>
      <pc:sldChg chg="del">
        <pc:chgData name="Abel Vicencio" userId="45df5259ba3d81bd" providerId="LiveId" clId="{4EA767F8-A001-4D45-8B6D-690C8390DCD5}" dt="2026-04-11T15:20:34.420" v="18" actId="47"/>
        <pc:sldMkLst>
          <pc:docMk/>
          <pc:sldMk cId="2482797370" sldId="263"/>
        </pc:sldMkLst>
      </pc:sldChg>
      <pc:sldChg chg="del">
        <pc:chgData name="Abel Vicencio" userId="45df5259ba3d81bd" providerId="LiveId" clId="{4EA767F8-A001-4D45-8B6D-690C8390DCD5}" dt="2026-04-11T15:23:45.870" v="22" actId="47"/>
        <pc:sldMkLst>
          <pc:docMk/>
          <pc:sldMk cId="4264762447" sldId="267"/>
        </pc:sldMkLst>
      </pc:sldChg>
      <pc:sldChg chg="del">
        <pc:chgData name="Abel Vicencio" userId="45df5259ba3d81bd" providerId="LiveId" clId="{4EA767F8-A001-4D45-8B6D-690C8390DCD5}" dt="2026-04-11T15:23:47.748" v="23" actId="47"/>
        <pc:sldMkLst>
          <pc:docMk/>
          <pc:sldMk cId="4290597667" sldId="268"/>
        </pc:sldMkLst>
      </pc:sldChg>
      <pc:sldChg chg="del">
        <pc:chgData name="Abel Vicencio" userId="45df5259ba3d81bd" providerId="LiveId" clId="{4EA767F8-A001-4D45-8B6D-690C8390DCD5}" dt="2026-04-11T15:23:48.223" v="24" actId="47"/>
        <pc:sldMkLst>
          <pc:docMk/>
          <pc:sldMk cId="3983616872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</a:t>
            </a:r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3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 smtClean="0">
                <a:latin typeface="Consolas" panose="020B0609020204030204" pitchFamily="49" charset="0"/>
              </a:rPr>
              <a:t>Recap</a:t>
            </a:r>
            <a:endParaRPr lang="es-MX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Funciones </a:t>
            </a:r>
            <a:r>
              <a:rPr lang="es-MX" dirty="0" err="1" smtClean="0">
                <a:latin typeface="Consolas" panose="020B0609020204030204" pitchFamily="49" charset="0"/>
              </a:rPr>
              <a:t>Dplyr</a:t>
            </a:r>
            <a:endParaRPr lang="es-MX" dirty="0" smtClean="0">
              <a:latin typeface="Consolas" panose="020B0609020204030204" pitchFamily="49" charset="0"/>
            </a:endParaRP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Filter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Mutate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Group_by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Summarize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dirty="0" smtClean="0">
                <a:latin typeface="Consolas" panose="020B0609020204030204" pitchFamily="49" charset="0"/>
              </a:rPr>
              <a:t>Exportado</a:t>
            </a:r>
            <a:endParaRPr lang="es-MX" dirty="0">
              <a:latin typeface="Consolas" panose="020B0609020204030204" pitchFamily="49" charset="0"/>
            </a:endParaRP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Write_xlsx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Buble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  <a:endParaRPr lang="es-MX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17" y="1825625"/>
            <a:ext cx="4753082" cy="36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Formatos y estructura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Formato </a:t>
            </a:r>
            <a:r>
              <a:rPr lang="es-MX" sz="1800" dirty="0" err="1" smtClean="0">
                <a:latin typeface="Consolas" panose="020B0609020204030204" pitchFamily="49" charset="0"/>
              </a:rPr>
              <a:t>wide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Formato </a:t>
            </a:r>
            <a:r>
              <a:rPr lang="es-MX" sz="1800" dirty="0" err="1" smtClean="0">
                <a:latin typeface="Consolas" panose="020B0609020204030204" pitchFamily="49" charset="0"/>
              </a:rPr>
              <a:t>long</a:t>
            </a:r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Joins</a:t>
            </a:r>
            <a:r>
              <a:rPr lang="es-MX" sz="20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Tipos de </a:t>
            </a:r>
            <a:r>
              <a:rPr lang="es-MX" sz="1800" dirty="0" err="1" smtClean="0">
                <a:latin typeface="Consolas" panose="020B0609020204030204" pitchFamily="49" charset="0"/>
              </a:rPr>
              <a:t>join</a:t>
            </a:r>
            <a:endParaRPr lang="es-MX" sz="1800" dirty="0">
              <a:latin typeface="Consolas" panose="020B0609020204030204" pitchFamily="49" charset="0"/>
            </a:endParaRPr>
          </a:p>
          <a:p>
            <a:pPr lvl="2"/>
            <a:r>
              <a:rPr lang="es-MX" sz="1400" dirty="0" err="1" smtClean="0">
                <a:latin typeface="Consolas" panose="020B0609020204030204" pitchFamily="49" charset="0"/>
              </a:rPr>
              <a:t>Left</a:t>
            </a:r>
            <a:endParaRPr lang="es-MX" sz="1400" dirty="0" smtClean="0">
              <a:latin typeface="Consolas" panose="020B0609020204030204" pitchFamily="49" charset="0"/>
            </a:endParaRPr>
          </a:p>
          <a:p>
            <a:pPr lvl="2"/>
            <a:r>
              <a:rPr lang="es-MX" sz="1400" dirty="0" err="1" smtClean="0">
                <a:latin typeface="Consolas" panose="020B0609020204030204" pitchFamily="49" charset="0"/>
              </a:rPr>
              <a:t>Right</a:t>
            </a:r>
            <a:endParaRPr lang="es-MX" sz="1400" dirty="0" smtClean="0">
              <a:latin typeface="Consolas" panose="020B0609020204030204" pitchFamily="49" charset="0"/>
            </a:endParaRPr>
          </a:p>
          <a:p>
            <a:pPr lvl="2"/>
            <a:r>
              <a:rPr lang="es-MX" sz="1400" dirty="0" err="1" smtClean="0">
                <a:latin typeface="Consolas" panose="020B0609020204030204" pitchFamily="49" charset="0"/>
              </a:rPr>
              <a:t>Inner</a:t>
            </a:r>
            <a:endParaRPr lang="es-MX" sz="1400" dirty="0" smtClean="0">
              <a:latin typeface="Consolas" panose="020B0609020204030204" pitchFamily="49" charset="0"/>
            </a:endParaRPr>
          </a:p>
          <a:p>
            <a:pPr lvl="2"/>
            <a:r>
              <a:rPr lang="es-MX" sz="1400" dirty="0" smtClean="0">
                <a:latin typeface="Consolas" panose="020B0609020204030204" pitchFamily="49" charset="0"/>
              </a:rPr>
              <a:t>Anti</a:t>
            </a:r>
          </a:p>
          <a:p>
            <a:pPr lvl="2"/>
            <a:r>
              <a:rPr lang="es-MX" sz="1400" dirty="0" err="1" smtClean="0">
                <a:latin typeface="Consolas" panose="020B0609020204030204" pitchFamily="49" charset="0"/>
              </a:rPr>
              <a:t>Semi</a:t>
            </a:r>
            <a:endParaRPr lang="es-MX" sz="14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Flujo de trabajo </a:t>
            </a: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con más de una fuente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Left_join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  <a:endParaRPr lang="es-MX" sz="1800" i="1" dirty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Filtros sobre objetos externos</a:t>
            </a:r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289075" y="2840038"/>
            <a:ext cx="3848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podrás generar un flujo de trabajo incorporando múltiples fuentes y transformando datos para análisis y exportación.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05E1A-97B2-542D-E222-82196C4A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MX" sz="5400" dirty="0">
                <a:latin typeface="Consolas" panose="020B0609020204030204" pitchFamily="49" charset="0"/>
              </a:rPr>
              <a:t>Formatos </a:t>
            </a:r>
            <a:r>
              <a:rPr lang="es-MX" sz="5400" i="1" dirty="0" err="1">
                <a:latin typeface="Consolas" panose="020B0609020204030204" pitchFamily="49" charset="0"/>
              </a:rPr>
              <a:t>wide</a:t>
            </a:r>
            <a:r>
              <a:rPr lang="es-MX" sz="5400" i="1" dirty="0">
                <a:latin typeface="Consolas" panose="020B0609020204030204" pitchFamily="49" charset="0"/>
              </a:rPr>
              <a:t> </a:t>
            </a:r>
            <a:r>
              <a:rPr lang="es-MX" sz="5400" dirty="0">
                <a:latin typeface="Consolas" panose="020B0609020204030204" pitchFamily="49" charset="0"/>
              </a:rPr>
              <a:t>vs. </a:t>
            </a:r>
            <a:r>
              <a:rPr lang="es-MX" sz="5400" i="1" dirty="0" err="1">
                <a:latin typeface="Consolas" panose="020B0609020204030204" pitchFamily="49" charset="0"/>
              </a:rPr>
              <a:t>long</a:t>
            </a:r>
            <a:endParaRPr lang="en-US" sz="5400" i="1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C32784-1EA8-EA53-7DAA-A383B87E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wide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variable es una columna; cada fila es una unidad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Ideal para reportes y uso visual (Excel)</a:t>
            </a: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Difícil de analizar y graficar a gran escala (demasiadas variables)</a:t>
            </a:r>
          </a:p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observación tiene una fila por cada valor de variable repetida 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Más fácil de filtrar y agrupar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Eficiencia computacional. Compatibilidad con funciones de </a:t>
            </a:r>
            <a:r>
              <a:rPr lang="es-MX" sz="1700" i="1" dirty="0" err="1">
                <a:latin typeface="Consolas" panose="020B0609020204030204" pitchFamily="49" charset="0"/>
              </a:rPr>
              <a:t>tidyverse</a:t>
            </a:r>
            <a:endParaRPr lang="es-MX" sz="1700" i="1" dirty="0">
              <a:latin typeface="Consolas" panose="020B0609020204030204" pitchFamily="49" charset="0"/>
            </a:endParaRP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Menos intuitivo para lectura rápida. Problemas de compatibilidad (Excel, </a:t>
            </a:r>
            <a:r>
              <a:rPr lang="es-MX" sz="17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PowerBi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endParaRPr lang="es-MX" sz="1700" dirty="0"/>
          </a:p>
          <a:p>
            <a:endParaRPr lang="en-US" sz="1700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xmlns="" id="{D3901D29-84B7-0108-E4BE-32794C5C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694" y="2888356"/>
            <a:ext cx="2395533" cy="342996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xmlns="" id="{9D3BE9A4-B698-02D1-5A0B-45550540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047" y="539675"/>
            <a:ext cx="3995928" cy="18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0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78E05F-8E83-BBB4-A381-2A742A86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0" y="457200"/>
            <a:ext cx="3932237" cy="1600200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Unión de bases de datos</a:t>
            </a:r>
            <a:endParaRPr lang="en-US" dirty="0"/>
          </a:p>
        </p:txBody>
      </p:sp>
      <p:pic>
        <p:nvPicPr>
          <p:cNvPr id="6" name="Picture Placeholder 5" descr="A group of circles with text&#10;&#10;AI-generated content may be incorrect.">
            <a:extLst>
              <a:ext uri="{FF2B5EF4-FFF2-40B4-BE49-F238E27FC236}">
                <a16:creationId xmlns:a16="http://schemas.microsoft.com/office/drawing/2014/main" xmlns="" id="{ACADD1BD-B93D-F99E-3944-EE2B1F7F6A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7" b="3462"/>
          <a:stretch>
            <a:fillRect/>
          </a:stretch>
        </p:blipFill>
        <p:spPr>
          <a:xfrm>
            <a:off x="6096000" y="837081"/>
            <a:ext cx="4828913" cy="550129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524" y="2207871"/>
            <a:ext cx="55494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Los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permiten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combinar</a:t>
            </a:r>
            <a:r>
              <a:rPr lang="es-ES" dirty="0">
                <a:latin typeface="Consolas" panose="020B0609020204030204" pitchFamily="49" charset="0"/>
              </a:rPr>
              <a:t> tablas usando una o más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columnas clave</a:t>
            </a:r>
            <a:r>
              <a:rPr lang="es-ES" dirty="0">
                <a:latin typeface="Consolas" panose="020B0609020204030204" pitchFamily="49" charset="0"/>
              </a:rPr>
              <a:t>, integrando información de distintas fuentes.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Las columnas clave deben identificar de manera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única</a:t>
            </a:r>
            <a:r>
              <a:rPr lang="es-ES" dirty="0">
                <a:latin typeface="Consolas" panose="020B0609020204030204" pitchFamily="49" charset="0"/>
              </a:rPr>
              <a:t> los registros; errores de coincidencia pueden generar duplicados o pérdidas de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Verifica que tipos de datos y nombres de columnas clave sean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consistentes</a:t>
            </a:r>
            <a:r>
              <a:rPr lang="es-ES" dirty="0">
                <a:latin typeface="Consolas" panose="020B0609020204030204" pitchFamily="49" charset="0"/>
              </a:rPr>
              <a:t> para evitar errores de unión.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Usar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estratégicamente permite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enriquecer</a:t>
            </a:r>
            <a:r>
              <a:rPr lang="es-ES" dirty="0">
                <a:latin typeface="Consolas" panose="020B0609020204030204" pitchFamily="49" charset="0"/>
              </a:rPr>
              <a:t> datos, calcular métricas combinadas y preparar </a:t>
            </a:r>
            <a:r>
              <a:rPr lang="es-ES" dirty="0" err="1">
                <a:latin typeface="Consolas" panose="020B0609020204030204" pitchFamily="49" charset="0"/>
              </a:rPr>
              <a:t>datasets</a:t>
            </a:r>
            <a:r>
              <a:rPr lang="es-ES" dirty="0">
                <a:latin typeface="Consolas" panose="020B0609020204030204" pitchFamily="49" charset="0"/>
              </a:rPr>
              <a:t> para análisis más complejos.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05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245</Words>
  <Application>Microsoft Office PowerPoint</Application>
  <PresentationFormat>Panorámica</PresentationFormat>
  <Paragraphs>39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Recap</vt:lpstr>
      <vt:lpstr>Objetivos del día</vt:lpstr>
      <vt:lpstr>Formatos wide vs. long</vt:lpstr>
      <vt:lpstr>Unión de bases de datos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29</cp:revision>
  <dcterms:created xsi:type="dcterms:W3CDTF">2025-12-13T08:20:06Z</dcterms:created>
  <dcterms:modified xsi:type="dcterms:W3CDTF">2026-04-18T06:26:12Z</dcterms:modified>
</cp:coreProperties>
</file>